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21D2D13-4F33-43E6-A07E-EA11F0F40A47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FCC64445-6C94-455C-8D82-795B94B0D0A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599898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2D13-4F33-43E6-A07E-EA11F0F40A47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4445-6C94-455C-8D82-795B94B0D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599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2D13-4F33-43E6-A07E-EA11F0F40A47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4445-6C94-455C-8D82-795B94B0D0A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59208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2D13-4F33-43E6-A07E-EA11F0F40A47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4445-6C94-455C-8D82-795B94B0D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641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2D13-4F33-43E6-A07E-EA11F0F40A47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4445-6C94-455C-8D82-795B94B0D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89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2D13-4F33-43E6-A07E-EA11F0F40A47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4445-6C94-455C-8D82-795B94B0D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941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2D13-4F33-43E6-A07E-EA11F0F40A47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4445-6C94-455C-8D82-795B94B0D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185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2D13-4F33-43E6-A07E-EA11F0F40A47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4445-6C94-455C-8D82-795B94B0D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789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2D13-4F33-43E6-A07E-EA11F0F40A47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4445-6C94-455C-8D82-795B94B0D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812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2D13-4F33-43E6-A07E-EA11F0F40A47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4445-6C94-455C-8D82-795B94B0D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71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2D13-4F33-43E6-A07E-EA11F0F40A47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64445-6C94-455C-8D82-795B94B0D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75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921D2D13-4F33-43E6-A07E-EA11F0F40A47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CC64445-6C94-455C-8D82-795B94B0D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299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03D89-F0A8-EC45-387E-D09EC7E65B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1432560"/>
            <a:ext cx="9996678" cy="1996440"/>
          </a:xfrm>
        </p:spPr>
        <p:txBody>
          <a:bodyPr>
            <a:noAutofit/>
          </a:bodyPr>
          <a:lstStyle/>
          <a:p>
            <a:r>
              <a:rPr lang="en-US" dirty="0"/>
              <a:t>Excel Project Report – Bike Buyers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A6B170-87DE-D3C7-0A0F-717CD01FE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4939665"/>
            <a:ext cx="2824353" cy="485775"/>
          </a:xfrm>
        </p:spPr>
        <p:txBody>
          <a:bodyPr>
            <a:normAutofit fontScale="92500"/>
          </a:bodyPr>
          <a:lstStyle/>
          <a:p>
            <a:r>
              <a:rPr lang="en-US" dirty="0"/>
              <a:t>Debdatta Mukherjee</a:t>
            </a:r>
          </a:p>
        </p:txBody>
      </p:sp>
    </p:spTree>
    <p:extLst>
      <p:ext uri="{BB962C8B-B14F-4D97-AF65-F5344CB8AC3E}">
        <p14:creationId xmlns:p14="http://schemas.microsoft.com/office/powerpoint/2010/main" val="3688595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A0B50-15F4-873E-5B9A-D57CAAB79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885824"/>
            <a:ext cx="9692640" cy="805497"/>
          </a:xfrm>
        </p:spPr>
        <p:txBody>
          <a:bodyPr/>
          <a:lstStyle/>
          <a:p>
            <a:r>
              <a:rPr lang="en-US" dirty="0"/>
              <a:t>1. 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68729-9DBB-CA8E-6289-DF4536075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1"/>
            <a:ext cx="8595360" cy="1924050"/>
          </a:xfrm>
        </p:spPr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project analyses customer demographics, lifestyle factors, and purchasing patterns to understand the key drivers behind bike purchasing behaviour.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dataset includes 1,000 customer records with variables such as Income, Age, Education, Occupation, Marital Status, Region, and whether they purchased a bike or not.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C81F23-93BE-0BD2-8234-1D5A29E54187}"/>
              </a:ext>
            </a:extLst>
          </p:cNvPr>
          <p:cNvSpPr txBox="1">
            <a:spLocks/>
          </p:cNvSpPr>
          <p:nvPr/>
        </p:nvSpPr>
        <p:spPr>
          <a:xfrm>
            <a:off x="1261872" y="4438649"/>
            <a:ext cx="3510153" cy="805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2. Objective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64BBB93-DF8D-D9A1-F437-36BEF9A64657}"/>
              </a:ext>
            </a:extLst>
          </p:cNvPr>
          <p:cNvSpPr txBox="1">
            <a:spLocks/>
          </p:cNvSpPr>
          <p:nvPr/>
        </p:nvSpPr>
        <p:spPr>
          <a:xfrm>
            <a:off x="1261872" y="5244146"/>
            <a:ext cx="8595360" cy="899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identify which factors most influence bike purchase decisions and present insights through an interactive Excel dashboard.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926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920DE-1108-E0FE-26EB-80E703A1D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529" y="826969"/>
            <a:ext cx="6123851" cy="929322"/>
          </a:xfrm>
        </p:spPr>
        <p:txBody>
          <a:bodyPr/>
          <a:lstStyle/>
          <a:p>
            <a:r>
              <a:rPr lang="en-US" dirty="0"/>
              <a:t>2. Dataset Description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0C4EA82-DA57-362E-2829-EDF5140E1E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30" y="2134934"/>
            <a:ext cx="10830277" cy="28738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FD7C81-ACA1-9BC5-304B-BDD70BE1A0E5}"/>
              </a:ext>
            </a:extLst>
          </p:cNvPr>
          <p:cNvSpPr txBox="1"/>
          <p:nvPr/>
        </p:nvSpPr>
        <p:spPr>
          <a:xfrm>
            <a:off x="241529" y="5387459"/>
            <a:ext cx="8569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Total Records</a:t>
            </a:r>
            <a:r>
              <a:rPr lang="en-US" b="1" dirty="0"/>
              <a:t> </a:t>
            </a:r>
            <a:r>
              <a:rPr lang="en-US" dirty="0"/>
              <a:t>-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1000</a:t>
            </a:r>
            <a:r>
              <a:rPr lang="en-US" dirty="0"/>
              <a:t> 	[=COUNTA(bike buyer[ID])]</a:t>
            </a:r>
          </a:p>
        </p:txBody>
      </p:sp>
    </p:spTree>
    <p:extLst>
      <p:ext uri="{BB962C8B-B14F-4D97-AF65-F5344CB8AC3E}">
        <p14:creationId xmlns:p14="http://schemas.microsoft.com/office/powerpoint/2010/main" val="811813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CBC17-33F5-CE40-C7DF-311A9B31B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629127"/>
            <a:ext cx="8782431" cy="805497"/>
          </a:xfrm>
        </p:spPr>
        <p:txBody>
          <a:bodyPr/>
          <a:lstStyle/>
          <a:p>
            <a:r>
              <a:rPr lang="en-US" dirty="0"/>
              <a:t>3. Data Cleaning &amp;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D5F2C-D105-2350-3B44-A9F6A00B1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933575"/>
            <a:ext cx="8595360" cy="4295298"/>
          </a:xfrm>
        </p:spPr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Steps performed: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74320" lvl="1" indent="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Loaded dataset into Power Query from Excel.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74320" lvl="1" indent="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Checked for null values using Column Quality and Column Distribution features.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74320" lvl="1" indent="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Replaced missing values in categorical columns.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74320" lvl="1" indent="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Replaced missing numeric values median values.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Standardized data types: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74320" lvl="1" indent="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Converted Income, Cars, Age, Children → to numeric.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74320" lvl="1" indent="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Purchased Bike, Marital Status, Gender → to text.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Loaded cleaned data into Excel worksheet for analysis.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29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1603B-AA72-3B79-094B-854EBE330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33374"/>
            <a:ext cx="5919978" cy="786447"/>
          </a:xfrm>
        </p:spPr>
        <p:txBody>
          <a:bodyPr/>
          <a:lstStyle/>
          <a:p>
            <a:r>
              <a:rPr lang="en-US" dirty="0"/>
              <a:t>Demographic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88780-74D6-60D0-AFAF-7BA5BFFBC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333500"/>
            <a:ext cx="6320029" cy="523875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Which age group has the highest rate of bike purchases?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30C77E-1960-58F4-C169-42E1D708C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872" y="1774508"/>
            <a:ext cx="3901440" cy="131826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06395E5-B177-3C1F-1E4E-05F8AB73ACEE}"/>
              </a:ext>
            </a:extLst>
          </p:cNvPr>
          <p:cNvSpPr txBox="1">
            <a:spLocks/>
          </p:cNvSpPr>
          <p:nvPr/>
        </p:nvSpPr>
        <p:spPr>
          <a:xfrm>
            <a:off x="1261872" y="3429001"/>
            <a:ext cx="4948428" cy="523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Does gender influence purchasing behaviour?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ACC3AC-87FD-2275-F4DD-444ED667E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872" y="3848101"/>
            <a:ext cx="2598420" cy="80010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65C73C0-2EFA-9ED6-EA7A-0417E646505E}"/>
              </a:ext>
            </a:extLst>
          </p:cNvPr>
          <p:cNvSpPr txBox="1">
            <a:spLocks/>
          </p:cNvSpPr>
          <p:nvPr/>
        </p:nvSpPr>
        <p:spPr>
          <a:xfrm>
            <a:off x="1261871" y="5005388"/>
            <a:ext cx="6920103" cy="523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does marital status affect the likelihood of buying a bike?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80663F-3441-7BD3-C2A6-DE66E3A8F9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035" y="5421630"/>
            <a:ext cx="3954780" cy="92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727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4425D-CFE4-A795-ECCD-21716BED7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677863"/>
            <a:ext cx="5919978" cy="757872"/>
          </a:xfrm>
        </p:spPr>
        <p:txBody>
          <a:bodyPr/>
          <a:lstStyle/>
          <a:p>
            <a:r>
              <a:rPr lang="en-US" dirty="0"/>
              <a:t>Income &amp; Occupation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6B65E-4896-6C41-91F2-B4CC3518C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6358128" cy="523875"/>
          </a:xfrm>
        </p:spPr>
        <p:txBody>
          <a:bodyPr/>
          <a:lstStyle/>
          <a:p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is the average income of bike buyers vs. non-buyers?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9075F3-25BA-8BFB-93A3-C8432F129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872" y="2345054"/>
            <a:ext cx="3904414" cy="108394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539CF0F-83B2-BE30-195A-800B489ED26C}"/>
              </a:ext>
            </a:extLst>
          </p:cNvPr>
          <p:cNvSpPr txBox="1">
            <a:spLocks/>
          </p:cNvSpPr>
          <p:nvPr/>
        </p:nvSpPr>
        <p:spPr>
          <a:xfrm>
            <a:off x="1261871" y="3970021"/>
            <a:ext cx="7024879" cy="523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Which occupation groups contribute most to bike purchases?</a:t>
            </a: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6638FA-10A0-63F4-090B-CA012355B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871" y="4525010"/>
            <a:ext cx="4771222" cy="204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069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F5946-241A-8FB5-82B5-5A52FD1CC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438150"/>
            <a:ext cx="5062728" cy="795972"/>
          </a:xfrm>
        </p:spPr>
        <p:txBody>
          <a:bodyPr/>
          <a:lstStyle/>
          <a:p>
            <a:r>
              <a:rPr lang="en-US" dirty="0"/>
              <a:t>Lifestyle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245EE-6EB8-02C1-7C16-89A0A29E2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596073"/>
            <a:ext cx="7463028" cy="495300"/>
          </a:xfrm>
        </p:spPr>
        <p:txBody>
          <a:bodyPr/>
          <a:lstStyle/>
          <a:p>
            <a:r>
              <a:rPr lang="en-IN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does commute distance affect the probability of owning a bike?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378044-781E-0AA2-4DCA-CFE5DD1EC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872" y="2091373"/>
            <a:ext cx="4649839" cy="194119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21DE80-A347-4E37-6501-37B640313BDE}"/>
              </a:ext>
            </a:extLst>
          </p:cNvPr>
          <p:cNvSpPr txBox="1">
            <a:spLocks/>
          </p:cNvSpPr>
          <p:nvPr/>
        </p:nvSpPr>
        <p:spPr>
          <a:xfrm>
            <a:off x="1261872" y="4456430"/>
            <a:ext cx="5462778" cy="49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 people with more cars tend to buy fewer bikes?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51B976-A2AF-A588-D7BC-3B32115745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872" y="4951730"/>
            <a:ext cx="4529328" cy="168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794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1401B-50D2-F9C9-D3BA-6DD2E9CAD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523" y="646993"/>
            <a:ext cx="4834128" cy="795972"/>
          </a:xfrm>
        </p:spPr>
        <p:txBody>
          <a:bodyPr/>
          <a:lstStyle/>
          <a:p>
            <a:r>
              <a:rPr lang="en-US" dirty="0"/>
              <a:t>Regional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E6C67-D1CC-2512-7955-87A8D36D1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522" y="2095501"/>
            <a:ext cx="4624578" cy="514350"/>
          </a:xfrm>
        </p:spPr>
        <p:txBody>
          <a:bodyPr/>
          <a:lstStyle/>
          <a:p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Which region has the most bike buyers?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093F33D-E8E5-2002-0E81-DB3349A1DCFC}"/>
              </a:ext>
            </a:extLst>
          </p:cNvPr>
          <p:cNvSpPr txBox="1">
            <a:spLocks/>
          </p:cNvSpPr>
          <p:nvPr/>
        </p:nvSpPr>
        <p:spPr>
          <a:xfrm>
            <a:off x="5200651" y="2095501"/>
            <a:ext cx="6029324" cy="514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is the income distribution by education?</a:t>
            </a: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587B63-2A37-EDA3-E76D-69232BEC5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980" y="2604602"/>
            <a:ext cx="5292670" cy="31812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243D55-DA41-EBBB-354E-66FEAF2BA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522" y="2604602"/>
            <a:ext cx="4434078" cy="325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30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D4D6F-A470-353E-2D67-B58A63B07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5" y="590550"/>
            <a:ext cx="3129153" cy="929322"/>
          </a:xfrm>
        </p:spPr>
        <p:txBody>
          <a:bodyPr/>
          <a:lstStyle/>
          <a:p>
            <a:r>
              <a:rPr lang="en-US" dirty="0"/>
              <a:t>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964D51-24CD-EC15-F60C-8E1118078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" y="1938029"/>
            <a:ext cx="10966852" cy="396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31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FBD8B-7A4C-6C10-A6DA-38FF9AC7A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137" y="876300"/>
            <a:ext cx="6996303" cy="872172"/>
          </a:xfrm>
        </p:spPr>
        <p:txBody>
          <a:bodyPr/>
          <a:lstStyle/>
          <a:p>
            <a:r>
              <a:rPr lang="en-US" dirty="0"/>
              <a:t>Summary of 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C7CEF-40F1-D55E-BBB4-FDB77EB04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137" y="2324100"/>
            <a:ext cx="9991725" cy="3486150"/>
          </a:xfrm>
        </p:spPr>
        <p:txBody>
          <a:bodyPr>
            <a:normAutofit/>
          </a:bodyPr>
          <a:lstStyle/>
          <a:p>
            <a:r>
              <a:rPr lang="en-US" sz="2800" dirty="0"/>
              <a:t>Highest bike purchase rate: Age 31–45, Professionals, Married, North America region</a:t>
            </a:r>
          </a:p>
          <a:p>
            <a:r>
              <a:rPr lang="en-US" sz="2800" dirty="0"/>
              <a:t>Average buyer income: ₹57,817/-</a:t>
            </a:r>
          </a:p>
          <a:p>
            <a:r>
              <a:rPr lang="en-US" sz="2800" dirty="0"/>
              <a:t>Most likely buyer: Professional aged 31–45, living in North America region, short commute (&lt;5 miles), owning ≤1 car.</a:t>
            </a:r>
          </a:p>
        </p:txBody>
      </p:sp>
    </p:spTree>
    <p:extLst>
      <p:ext uri="{BB962C8B-B14F-4D97-AF65-F5344CB8AC3E}">
        <p14:creationId xmlns:p14="http://schemas.microsoft.com/office/powerpoint/2010/main" val="3652092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3B314-EB29-3D60-0F47-B34D69617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498" y="1209675"/>
            <a:ext cx="3348228" cy="872172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DCF75-76B0-3650-D44C-5D75824F1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1498" y="2300288"/>
            <a:ext cx="9549003" cy="2257424"/>
          </a:xfrm>
        </p:spPr>
        <p:txBody>
          <a:bodyPr>
            <a:normAutofit/>
          </a:bodyPr>
          <a:lstStyle/>
          <a:p>
            <a:r>
              <a:rPr lang="en-US" sz="2800" dirty="0"/>
              <a:t>This analysis helped uncover key demographic and behavioral trends influencing bike purchases. It demonstrates the power of Excel with Power Query for real-world data analytics, enabling actionable insights and data-driven marketing strategies.</a:t>
            </a:r>
          </a:p>
        </p:txBody>
      </p:sp>
    </p:spTree>
    <p:extLst>
      <p:ext uri="{BB962C8B-B14F-4D97-AF65-F5344CB8AC3E}">
        <p14:creationId xmlns:p14="http://schemas.microsoft.com/office/powerpoint/2010/main" val="999077052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177</TotalTime>
  <Words>370</Words>
  <Application>Microsoft Office PowerPoint</Application>
  <PresentationFormat>Widescreen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Century Schoolbook</vt:lpstr>
      <vt:lpstr>Wingdings 2</vt:lpstr>
      <vt:lpstr>View</vt:lpstr>
      <vt:lpstr>Excel Project Report – Bike Buyers Analysis</vt:lpstr>
      <vt:lpstr>1. Project Overview</vt:lpstr>
      <vt:lpstr>2. Dataset Description</vt:lpstr>
      <vt:lpstr>3. Data Cleaning &amp; Preparation</vt:lpstr>
      <vt:lpstr>Demographic Analysis</vt:lpstr>
      <vt:lpstr>Income &amp; Occupation</vt:lpstr>
      <vt:lpstr>Lifestyle Insights</vt:lpstr>
      <vt:lpstr>Regional Analysis</vt:lpstr>
      <vt:lpstr>Dashboard</vt:lpstr>
      <vt:lpstr>Summary of Key Findings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Project Report – Bike Buyers Analysis</dc:title>
  <dc:creator>Debdatta</dc:creator>
  <cp:lastModifiedBy>Debdatta</cp:lastModifiedBy>
  <cp:revision>14</cp:revision>
  <dcterms:created xsi:type="dcterms:W3CDTF">2025-10-29T16:01:01Z</dcterms:created>
  <dcterms:modified xsi:type="dcterms:W3CDTF">2025-10-30T07:52:34Z</dcterms:modified>
</cp:coreProperties>
</file>